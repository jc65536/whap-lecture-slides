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9" d="100"/>
          <a:sy n="99" d="100"/>
        </p:scale>
        <p:origin x="-1344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interSettings" Target="printerSettings/printerSettings1.bin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50D65-C64D-44FB-9152-4CC2DE0C9198}" type="datetime1">
              <a:rPr lang="en-US" smtClean="0"/>
              <a:pPr/>
              <a:t>4/26/16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E64A4-35FB-42B6-9183-2C0CE0E36649}" type="datetime1">
              <a:rPr lang="en-US" smtClean="0"/>
              <a:pPr/>
              <a:t>4/26/16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683B9-6ECA-47FA-93CF-B124A0FAC208}" type="datetime1">
              <a:rPr lang="en-US" smtClean="0"/>
              <a:pPr/>
              <a:t>4/26/16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F66B-9476-4BB3-85E9-E01854F07F90}" type="datetime1">
              <a:rPr lang="en-US" smtClean="0"/>
              <a:pPr/>
              <a:t>4/26/16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23FBD-8F7D-4F85-8085-67BFDB05CB71}" type="datetime1">
              <a:rPr lang="en-US" smtClean="0"/>
              <a:pPr/>
              <a:t>4/26/16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D789A-1220-4441-8676-44A034051BFD}" type="datetime1">
              <a:rPr lang="en-US" smtClean="0"/>
              <a:pPr/>
              <a:t>4/26/16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8A266-E364-4B5E-98DD-432668182E1E}" type="datetime1">
              <a:rPr lang="en-US" smtClean="0"/>
              <a:pPr/>
              <a:t>4/26/16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F2040-9975-4642-A906-1DF87F8BE202}" type="datetime1">
              <a:rPr lang="en-US" smtClean="0"/>
              <a:pPr/>
              <a:t>4/26/16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52B4A-BA08-4841-AB08-A0D822ABC34D}" type="datetime1">
              <a:rPr lang="en-US" smtClean="0"/>
              <a:pPr/>
              <a:t>4/26/16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5EB0-D091-417E-ACD5-D65E1C7D8524}" type="datetime1">
              <a:rPr lang="en-US" smtClean="0"/>
              <a:pPr/>
              <a:t>4/26/16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A09F9-C7D6-4C52-A7E8-5101239A0BA2}" type="datetime1">
              <a:rPr lang="en-US" smtClean="0"/>
              <a:pPr/>
              <a:t>4/26/16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75D48070-6A81-47D0-9810-1540B9FEFF61}" type="datetime1">
              <a:rPr lang="en-US" smtClean="0"/>
              <a:pPr/>
              <a:t>4/26/16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gi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gi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gi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85616"/>
            <a:ext cx="7543800" cy="2647462"/>
          </a:xfrm>
        </p:spPr>
        <p:txBody>
          <a:bodyPr/>
          <a:lstStyle/>
          <a:p>
            <a:r>
              <a:rPr lang="en-US" dirty="0" smtClean="0"/>
              <a:t>Chinese Revolution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9230" y="3286369"/>
            <a:ext cx="1817076" cy="25108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9230" y="5797238"/>
            <a:ext cx="181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Sun Yet-sun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1024" y="3286369"/>
            <a:ext cx="3479800" cy="2336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1025" y="5705231"/>
            <a:ext cx="347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Mao Zedong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6825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Nationalists Overthrow Qing Dynasty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5154" y="533400"/>
            <a:ext cx="5988538" cy="4038600"/>
          </a:xfrm>
        </p:spPr>
        <p:txBody>
          <a:bodyPr>
            <a:normAutofit/>
          </a:bodyPr>
          <a:lstStyle/>
          <a:p>
            <a:pPr marL="274320" lvl="1"/>
            <a:r>
              <a:rPr lang="en-US" dirty="0" smtClean="0"/>
              <a:t>The </a:t>
            </a:r>
            <a:r>
              <a:rPr lang="en-US" altLang="en-US" dirty="0" err="1" smtClean="0">
                <a:latin typeface="Arial" pitchFamily="34" charset="0"/>
              </a:rPr>
              <a:t>Guomindang</a:t>
            </a:r>
            <a:r>
              <a:rPr lang="en-US" dirty="0" smtClean="0"/>
              <a:t> (Nationalist Party) pushed for modernization and nationalization.</a:t>
            </a:r>
          </a:p>
          <a:p>
            <a:pPr lvl="1"/>
            <a:r>
              <a:rPr lang="en-US" dirty="0" smtClean="0"/>
              <a:t>Their first great leader was </a:t>
            </a:r>
            <a:r>
              <a:rPr lang="en-US" b="1" dirty="0" smtClean="0"/>
              <a:t>Sun Yet-</a:t>
            </a:r>
            <a:r>
              <a:rPr lang="en-US" b="1" dirty="0" err="1" smtClean="0"/>
              <a:t>sen</a:t>
            </a:r>
            <a:endParaRPr lang="en-US" b="1" dirty="0"/>
          </a:p>
          <a:p>
            <a:pPr lvl="1"/>
            <a:r>
              <a:rPr lang="en-US" dirty="0" smtClean="0"/>
              <a:t>In 1911, the Revolutionary Alliance overthrew the last emperor of the Qing dynasty</a:t>
            </a:r>
          </a:p>
          <a:p>
            <a:endParaRPr lang="en-US" dirty="0"/>
          </a:p>
        </p:txBody>
      </p:sp>
      <p:pic>
        <p:nvPicPr>
          <p:cNvPr id="2052" name="Picture 4" descr="http://upload.wikimedia.org/wikipedia/commons/8/80/Sun_Yat-sen_2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2754" y="631092"/>
            <a:ext cx="2282092" cy="3183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57715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999" y="4757614"/>
            <a:ext cx="7756769" cy="1414585"/>
          </a:xfrm>
        </p:spPr>
        <p:txBody>
          <a:bodyPr>
            <a:normAutofit fontScale="90000"/>
          </a:bodyPr>
          <a:lstStyle/>
          <a:p>
            <a:r>
              <a:rPr lang="en-US" dirty="0"/>
              <a:t>Shaky Start for the New Republic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846" y="685799"/>
            <a:ext cx="8333154" cy="3954585"/>
          </a:xfrm>
        </p:spPr>
        <p:txBody>
          <a:bodyPr>
            <a:noAutofit/>
          </a:bodyPr>
          <a:lstStyle/>
          <a:p>
            <a:pPr lvl="1"/>
            <a:r>
              <a:rPr lang="en-US" sz="2800" dirty="0" smtClean="0"/>
              <a:t>1912, </a:t>
            </a:r>
            <a:r>
              <a:rPr lang="en-US" sz="2800" b="1" dirty="0" smtClean="0"/>
              <a:t>Sun Yet-</a:t>
            </a:r>
            <a:r>
              <a:rPr lang="en-US" sz="2800" b="1" dirty="0" err="1" smtClean="0"/>
              <a:t>sen</a:t>
            </a:r>
            <a:r>
              <a:rPr lang="en-US" sz="2800" b="1" dirty="0" smtClean="0"/>
              <a:t> </a:t>
            </a:r>
            <a:r>
              <a:rPr lang="en-US" sz="2800" dirty="0" smtClean="0"/>
              <a:t>became president of the Republic of China</a:t>
            </a:r>
          </a:p>
          <a:p>
            <a:pPr lvl="1"/>
            <a:r>
              <a:rPr lang="en-US" sz="2800" dirty="0" smtClean="0"/>
              <a:t>“Three Principles of the People”</a:t>
            </a:r>
          </a:p>
          <a:p>
            <a:pPr marL="640080" lvl="2" indent="0">
              <a:buNone/>
            </a:pPr>
            <a:r>
              <a:rPr lang="en-US" sz="2800" dirty="0"/>
              <a:t>1</a:t>
            </a:r>
            <a:r>
              <a:rPr lang="en-US" sz="2800" dirty="0" smtClean="0"/>
              <a:t>. Nationalism—an end to foreign control</a:t>
            </a:r>
          </a:p>
          <a:p>
            <a:pPr marL="640080" lvl="2" indent="0">
              <a:buNone/>
            </a:pPr>
            <a:r>
              <a:rPr lang="en-US" sz="2800" dirty="0" smtClean="0"/>
              <a:t>2. </a:t>
            </a:r>
            <a:r>
              <a:rPr lang="en-US" sz="2800" dirty="0"/>
              <a:t>P</a:t>
            </a:r>
            <a:r>
              <a:rPr lang="en-US" sz="2800" dirty="0" smtClean="0"/>
              <a:t>eople’s rights—democracy</a:t>
            </a:r>
          </a:p>
          <a:p>
            <a:pPr marL="640080" lvl="2" indent="0">
              <a:buNone/>
            </a:pPr>
            <a:r>
              <a:rPr lang="en-US" sz="2800" dirty="0" smtClean="0"/>
              <a:t>3. </a:t>
            </a:r>
            <a:r>
              <a:rPr lang="en-US" sz="2800" dirty="0"/>
              <a:t>P</a:t>
            </a:r>
            <a:r>
              <a:rPr lang="en-US" sz="2800" dirty="0" smtClean="0"/>
              <a:t>eople’s livelihood—economic security for all Chinese</a:t>
            </a:r>
          </a:p>
        </p:txBody>
      </p:sp>
    </p:spTree>
    <p:extLst>
      <p:ext uri="{BB962C8B-B14F-4D97-AF65-F5344CB8AC3E}">
        <p14:creationId xmlns:p14="http://schemas.microsoft.com/office/powerpoint/2010/main" val="34398971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609600"/>
            <a:ext cx="6125412" cy="5037015"/>
          </a:xfrm>
        </p:spPr>
        <p:txBody>
          <a:bodyPr>
            <a:normAutofit/>
          </a:bodyPr>
          <a:lstStyle/>
          <a:p>
            <a:pPr lvl="2"/>
            <a:r>
              <a:rPr lang="en-US" sz="2400" dirty="0" smtClean="0"/>
              <a:t>General </a:t>
            </a:r>
            <a:r>
              <a:rPr lang="en-US" sz="2400" b="1" dirty="0" smtClean="0"/>
              <a:t>Yuan </a:t>
            </a:r>
            <a:r>
              <a:rPr lang="en-US" sz="2400" b="1" dirty="0" err="1" smtClean="0"/>
              <a:t>Shikai</a:t>
            </a:r>
            <a:r>
              <a:rPr lang="en-US" sz="2400" dirty="0" smtClean="0"/>
              <a:t> takes over presidency</a:t>
            </a:r>
          </a:p>
          <a:p>
            <a:pPr lvl="3"/>
            <a:r>
              <a:rPr lang="en-US" sz="2400" dirty="0" err="1" smtClean="0"/>
              <a:t>Shikai</a:t>
            </a:r>
            <a:r>
              <a:rPr lang="en-US" sz="2400" dirty="0" smtClean="0"/>
              <a:t> betrays democratic ideals</a:t>
            </a:r>
          </a:p>
          <a:p>
            <a:pPr lvl="3"/>
            <a:r>
              <a:rPr lang="en-US" sz="2400" dirty="0" smtClean="0"/>
              <a:t>Local revolts break out</a:t>
            </a:r>
          </a:p>
          <a:p>
            <a:pPr lvl="3"/>
            <a:r>
              <a:rPr lang="en-US" sz="2400" dirty="0" smtClean="0"/>
              <a:t>In 1916 civil war breaks out after </a:t>
            </a:r>
            <a:r>
              <a:rPr lang="en-US" sz="2400" dirty="0" err="1" smtClean="0"/>
              <a:t>Shikai’s</a:t>
            </a:r>
            <a:r>
              <a:rPr lang="en-US" sz="2400" dirty="0" smtClean="0"/>
              <a:t> death</a:t>
            </a:r>
          </a:p>
          <a:p>
            <a:pPr lvl="3"/>
            <a:r>
              <a:rPr lang="en-US" sz="2400" dirty="0" smtClean="0"/>
              <a:t>Provincial warlords held real authority—terrorized the countryside, looted</a:t>
            </a:r>
          </a:p>
          <a:p>
            <a:pPr lvl="3"/>
            <a:r>
              <a:rPr lang="en-US" sz="2400" dirty="0" smtClean="0"/>
              <a:t>Chinese peasants suffered, crops were destroyed</a:t>
            </a:r>
            <a:endParaRPr lang="en-US" sz="2400" dirty="0"/>
          </a:p>
        </p:txBody>
      </p:sp>
      <p:pic>
        <p:nvPicPr>
          <p:cNvPr id="3074" name="Picture 2" descr="File:Yuan shikai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54012" y="521677"/>
            <a:ext cx="2379575" cy="3767138"/>
          </a:xfrm>
        </p:spPr>
      </p:pic>
    </p:spTree>
    <p:extLst>
      <p:ext uri="{BB962C8B-B14F-4D97-AF65-F5344CB8AC3E}">
        <p14:creationId xmlns:p14="http://schemas.microsoft.com/office/powerpoint/2010/main" val="23794026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14923" y="615462"/>
            <a:ext cx="8624277" cy="4786923"/>
          </a:xfrm>
        </p:spPr>
        <p:txBody>
          <a:bodyPr>
            <a:normAutofit/>
          </a:bodyPr>
          <a:lstStyle/>
          <a:p>
            <a:pPr marL="640080" lvl="2" indent="0">
              <a:buNone/>
            </a:pPr>
            <a:r>
              <a:rPr lang="en-US" sz="2400" dirty="0" smtClean="0"/>
              <a:t>In </a:t>
            </a:r>
            <a:r>
              <a:rPr lang="en-US" sz="2400" dirty="0"/>
              <a:t>1917, the Beijing government declared war against </a:t>
            </a:r>
            <a:r>
              <a:rPr lang="en-US" sz="2400" dirty="0" smtClean="0"/>
              <a:t>Germany</a:t>
            </a:r>
            <a:endParaRPr lang="en-US" sz="2400" dirty="0"/>
          </a:p>
          <a:p>
            <a:pPr lvl="3"/>
            <a:r>
              <a:rPr lang="en-US" sz="2400" dirty="0"/>
              <a:t>They believed the Allies would return Chinese territories controlled by Germany to </a:t>
            </a:r>
            <a:r>
              <a:rPr lang="en-US" sz="2400" dirty="0" smtClean="0"/>
              <a:t>China</a:t>
            </a:r>
            <a:endParaRPr lang="en-US" sz="2400" dirty="0"/>
          </a:p>
          <a:p>
            <a:pPr lvl="3"/>
            <a:r>
              <a:rPr lang="en-US" sz="2400" u="sng" dirty="0"/>
              <a:t>Allies gave Japan </a:t>
            </a:r>
            <a:r>
              <a:rPr lang="en-US" sz="2400" u="sng" dirty="0" smtClean="0"/>
              <a:t>Chinese </a:t>
            </a:r>
            <a:r>
              <a:rPr lang="en-US" sz="2400" u="sng" dirty="0"/>
              <a:t>territories under Treaty of </a:t>
            </a:r>
            <a:r>
              <a:rPr lang="en-US" sz="2400" u="sng" dirty="0" smtClean="0"/>
              <a:t>Versailles</a:t>
            </a:r>
            <a:endParaRPr lang="en-US" sz="2400" dirty="0"/>
          </a:p>
          <a:p>
            <a:pPr lvl="2"/>
            <a:r>
              <a:rPr lang="en-US" sz="2400" dirty="0"/>
              <a:t>Treaty of Versailles outrages </a:t>
            </a:r>
            <a:r>
              <a:rPr lang="en-US" sz="2400" dirty="0" smtClean="0"/>
              <a:t>Chinese people</a:t>
            </a:r>
            <a:endParaRPr lang="en-US" sz="2400" dirty="0"/>
          </a:p>
          <a:p>
            <a:pPr lvl="2"/>
            <a:r>
              <a:rPr lang="en-US" sz="2400" dirty="0"/>
              <a:t>3,000 angry students gather in Beijing May 4, 1919.</a:t>
            </a:r>
          </a:p>
          <a:p>
            <a:pPr lvl="3"/>
            <a:r>
              <a:rPr lang="en-US" sz="2400" b="1" dirty="0" smtClean="0"/>
              <a:t>May </a:t>
            </a:r>
            <a:r>
              <a:rPr lang="en-US" sz="2400" b="1" dirty="0"/>
              <a:t>Fourth </a:t>
            </a:r>
            <a:r>
              <a:rPr lang="en-US" sz="2400" b="1" dirty="0" smtClean="0"/>
              <a:t>Movement</a:t>
            </a:r>
            <a:r>
              <a:rPr lang="en-US" sz="2400" dirty="0" smtClean="0"/>
              <a:t>—Workers, manufactures, shopkeepers, and professionals joined this caused and was supported by </a:t>
            </a:r>
            <a:r>
              <a:rPr lang="en-US" sz="2400" b="1" dirty="0" smtClean="0"/>
              <a:t>Mao Zedong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113692" y="5402385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61999" y="5324231"/>
            <a:ext cx="7756769" cy="847968"/>
          </a:xfrm>
        </p:spPr>
        <p:txBody>
          <a:bodyPr>
            <a:normAutofit/>
          </a:bodyPr>
          <a:lstStyle/>
          <a:p>
            <a:r>
              <a:rPr lang="en-US" sz="3800" dirty="0" smtClean="0"/>
              <a:t>World War I Spells More Problems</a:t>
            </a: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29242945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63410" y="0"/>
            <a:ext cx="9129256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dirty="0" smtClean="0"/>
              <a:t>May </a:t>
            </a:r>
            <a:r>
              <a:rPr lang="en-US" sz="2800" dirty="0"/>
              <a:t>Fourth </a:t>
            </a:r>
            <a:r>
              <a:rPr lang="en-US" sz="2800" dirty="0" smtClean="0"/>
              <a:t>Movement</a:t>
            </a: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6700" y="1206500"/>
            <a:ext cx="85979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7548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File:May fourth 1919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5" y="768094"/>
            <a:ext cx="9144000" cy="6089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3854" y="0"/>
            <a:ext cx="9130145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dirty="0"/>
              <a:t>Protestors dissatisfied with the Treaty of Versailles for China</a:t>
            </a:r>
          </a:p>
        </p:txBody>
      </p:sp>
    </p:spTree>
    <p:extLst>
      <p:ext uri="{BB962C8B-B14F-4D97-AF65-F5344CB8AC3E}">
        <p14:creationId xmlns:p14="http://schemas.microsoft.com/office/powerpoint/2010/main" val="6612824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://upload.wikimedia.org/wikipedia/commons/7/70/Burn_Japanese_goods%2C_Tsinghua_School%2C_1919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1491"/>
            <a:ext cx="9157856" cy="607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0" y="0"/>
            <a:ext cx="9157856" cy="584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dirty="0"/>
              <a:t>Tsinghua University students burn Japanese goods.</a:t>
            </a:r>
          </a:p>
        </p:txBody>
      </p:sp>
    </p:spTree>
    <p:extLst>
      <p:ext uri="{BB962C8B-B14F-4D97-AF65-F5344CB8AC3E}">
        <p14:creationId xmlns:p14="http://schemas.microsoft.com/office/powerpoint/2010/main" val="26182133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999" y="5236308"/>
            <a:ext cx="7580923" cy="935892"/>
          </a:xfrm>
        </p:spPr>
        <p:txBody>
          <a:bodyPr>
            <a:normAutofit/>
          </a:bodyPr>
          <a:lstStyle/>
          <a:p>
            <a:r>
              <a:rPr lang="en-US" sz="3800" dirty="0" smtClean="0"/>
              <a:t>The Communist Party in China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4462" y="406570"/>
            <a:ext cx="5709138" cy="4995815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In 1921 a group in Shanghai (including Mao Zedong) organizes the Chinese Communist Party.</a:t>
            </a:r>
          </a:p>
          <a:p>
            <a:pPr lvl="1"/>
            <a:r>
              <a:rPr lang="en-US" b="1" dirty="0"/>
              <a:t>Mao Zedong</a:t>
            </a:r>
            <a:r>
              <a:rPr lang="en-US" dirty="0"/>
              <a:t> develops his own brand of </a:t>
            </a:r>
            <a:r>
              <a:rPr lang="en-US" dirty="0" smtClean="0"/>
              <a:t>communism and later became China’s greatest revolutionary leader</a:t>
            </a:r>
            <a:endParaRPr lang="en-US" dirty="0"/>
          </a:p>
          <a:p>
            <a:pPr lvl="2"/>
            <a:r>
              <a:rPr lang="en-US" sz="2400" dirty="0" smtClean="0"/>
              <a:t>Chinese intellectuals turned from Sun Yet-</a:t>
            </a:r>
            <a:r>
              <a:rPr lang="en-US" sz="2400" dirty="0" err="1" smtClean="0"/>
              <a:t>sen’s</a:t>
            </a:r>
            <a:r>
              <a:rPr lang="en-US" sz="2400" dirty="0" smtClean="0"/>
              <a:t> (democracy beliefs) in favor of Lenin’s brand of Soviet communism</a:t>
            </a:r>
            <a:endParaRPr lang="en-US" sz="2400" dirty="0"/>
          </a:p>
          <a:p>
            <a:pPr lvl="2"/>
            <a:r>
              <a:rPr lang="en-US" sz="2400" dirty="0"/>
              <a:t>Mao brought the revolution to the rural </a:t>
            </a:r>
            <a:r>
              <a:rPr lang="en-US" sz="2400" dirty="0" smtClean="0"/>
              <a:t>country</a:t>
            </a:r>
            <a:endParaRPr lang="en-US" sz="2400" dirty="0"/>
          </a:p>
        </p:txBody>
      </p:sp>
      <p:pic>
        <p:nvPicPr>
          <p:cNvPr id="2050" name="Picture 2" descr="File:Mao.gif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06570"/>
            <a:ext cx="2562225" cy="4213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96000" y="4619625"/>
            <a:ext cx="2562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Mao Zedong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1822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334000"/>
            <a:ext cx="7600462" cy="838200"/>
          </a:xfrm>
        </p:spPr>
        <p:txBody>
          <a:bodyPr>
            <a:normAutofit/>
          </a:bodyPr>
          <a:lstStyle/>
          <a:p>
            <a:r>
              <a:rPr lang="en-US" sz="3800" dirty="0" smtClean="0"/>
              <a:t>Lenin Befriends China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4692" y="609601"/>
            <a:ext cx="5089770" cy="4841630"/>
          </a:xfrm>
        </p:spPr>
        <p:txBody>
          <a:bodyPr>
            <a:normAutofit/>
          </a:bodyPr>
          <a:lstStyle/>
          <a:p>
            <a:pPr lvl="2"/>
            <a:r>
              <a:rPr lang="en-US" sz="2400" dirty="0" smtClean="0"/>
              <a:t>Sun Yet-</a:t>
            </a:r>
            <a:r>
              <a:rPr lang="en-US" sz="2400" dirty="0" err="1" smtClean="0"/>
              <a:t>sen</a:t>
            </a:r>
            <a:r>
              <a:rPr lang="en-US" sz="2400" dirty="0" smtClean="0"/>
              <a:t> </a:t>
            </a:r>
            <a:r>
              <a:rPr lang="en-US" sz="2400" dirty="0"/>
              <a:t>government is in south </a:t>
            </a:r>
            <a:r>
              <a:rPr lang="en-US" sz="2400" dirty="0" smtClean="0"/>
              <a:t>China</a:t>
            </a:r>
            <a:endParaRPr lang="en-US" sz="2400" dirty="0"/>
          </a:p>
          <a:p>
            <a:pPr lvl="2"/>
            <a:r>
              <a:rPr lang="en-US" sz="2400" dirty="0" smtClean="0"/>
              <a:t>The </a:t>
            </a:r>
            <a:r>
              <a:rPr lang="en-US" altLang="en-US" sz="2400" dirty="0" err="1" smtClean="0">
                <a:latin typeface="Arial" pitchFamily="34" charset="0"/>
              </a:rPr>
              <a:t>Guomindang</a:t>
            </a:r>
            <a:r>
              <a:rPr lang="en-US" sz="2400" dirty="0" smtClean="0"/>
              <a:t> </a:t>
            </a:r>
            <a:r>
              <a:rPr lang="en-US" sz="2400" dirty="0"/>
              <a:t>ally with the Communist </a:t>
            </a:r>
            <a:r>
              <a:rPr lang="en-US" sz="2400" dirty="0" smtClean="0"/>
              <a:t>Party in attempts to unite all the revolutionary groups for common action</a:t>
            </a:r>
            <a:endParaRPr lang="en-US" sz="2400" dirty="0"/>
          </a:p>
          <a:p>
            <a:pPr lvl="2"/>
            <a:r>
              <a:rPr lang="en-US" sz="2400" dirty="0"/>
              <a:t>Lenin seized opportunity </a:t>
            </a:r>
            <a:r>
              <a:rPr lang="en-US" sz="2400" dirty="0" smtClean="0"/>
              <a:t>and called for a worldwide revolution</a:t>
            </a:r>
            <a:endParaRPr lang="en-US" sz="2400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24768" y="609601"/>
            <a:ext cx="3214077" cy="229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0860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2000" y="5089768"/>
            <a:ext cx="7590692" cy="1082431"/>
          </a:xfrm>
        </p:spPr>
        <p:txBody>
          <a:bodyPr>
            <a:normAutofit/>
          </a:bodyPr>
          <a:lstStyle/>
          <a:p>
            <a:r>
              <a:rPr lang="en-US" sz="3200" dirty="0" smtClean="0"/>
              <a:t>Peasants Align Themselves With The Communists</a:t>
            </a:r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761999" y="609601"/>
            <a:ext cx="5265615" cy="4333630"/>
          </a:xfrm>
        </p:spPr>
        <p:txBody>
          <a:bodyPr>
            <a:noAutofit/>
          </a:bodyPr>
          <a:lstStyle/>
          <a:p>
            <a:pPr lvl="1"/>
            <a:r>
              <a:rPr lang="en-US" dirty="0"/>
              <a:t>Peasants Align with the Communists</a:t>
            </a:r>
          </a:p>
          <a:p>
            <a:pPr lvl="2"/>
            <a:r>
              <a:rPr lang="en-US" sz="2400" dirty="0"/>
              <a:t>Sun </a:t>
            </a:r>
            <a:r>
              <a:rPr lang="en-US" sz="2400" dirty="0" err="1"/>
              <a:t>Yixian</a:t>
            </a:r>
            <a:r>
              <a:rPr lang="en-US" sz="2400" dirty="0"/>
              <a:t> died in 1925, and </a:t>
            </a:r>
            <a:r>
              <a:rPr lang="en-US" sz="2400" dirty="0" smtClean="0"/>
              <a:t>Chiang </a:t>
            </a:r>
            <a:r>
              <a:rPr lang="en-US" sz="2400" dirty="0"/>
              <a:t>Kai-</a:t>
            </a:r>
            <a:r>
              <a:rPr lang="en-US" sz="2400" dirty="0" smtClean="0"/>
              <a:t>shek </a:t>
            </a:r>
            <a:r>
              <a:rPr lang="en-US" sz="2400" dirty="0"/>
              <a:t>heads the </a:t>
            </a:r>
            <a:r>
              <a:rPr lang="en-US" altLang="en-US" sz="2400" dirty="0" err="1" smtClean="0">
                <a:latin typeface="Arial" pitchFamily="34" charset="0"/>
              </a:rPr>
              <a:t>Guomindang</a:t>
            </a:r>
            <a:endParaRPr lang="en-US" altLang="en-US" sz="2400" dirty="0" smtClean="0">
              <a:latin typeface="Arial" pitchFamily="34" charset="0"/>
            </a:endParaRPr>
          </a:p>
          <a:p>
            <a:pPr lvl="2"/>
            <a:r>
              <a:rPr lang="en-US" sz="2400" dirty="0"/>
              <a:t>Kai-shek  </a:t>
            </a:r>
            <a:r>
              <a:rPr lang="en-US" sz="2400" dirty="0"/>
              <a:t>(son of a middle-class merchant) feared communist goal of forming a socialist </a:t>
            </a:r>
            <a:r>
              <a:rPr lang="en-US" sz="2400" dirty="0" smtClean="0"/>
              <a:t>government</a:t>
            </a:r>
            <a:endParaRPr lang="en-US" sz="2400" dirty="0"/>
          </a:p>
          <a:p>
            <a:pPr lvl="2"/>
            <a:r>
              <a:rPr lang="en-US" sz="2400" dirty="0"/>
              <a:t>Kai-shek  </a:t>
            </a:r>
            <a:r>
              <a:rPr lang="en-US" sz="2400" dirty="0"/>
              <a:t>promised democracy, but his government became </a:t>
            </a:r>
            <a:r>
              <a:rPr lang="en-US" sz="2400" dirty="0" smtClean="0"/>
              <a:t>corrupt</a:t>
            </a:r>
            <a:endParaRPr lang="en-US" sz="2400" dirty="0"/>
          </a:p>
          <a:p>
            <a:r>
              <a:rPr lang="en-US" sz="2400" dirty="0"/>
              <a:t>As a result peasants threw their support toward the Chinese Communist </a:t>
            </a:r>
            <a:r>
              <a:rPr lang="en-US" sz="2400" dirty="0" smtClean="0"/>
              <a:t>Party</a:t>
            </a:r>
            <a:endParaRPr lang="en-US" sz="2400" dirty="0"/>
          </a:p>
        </p:txBody>
      </p:sp>
      <p:pic>
        <p:nvPicPr>
          <p:cNvPr id="4100" name="Picture 4" descr="http://images.classwell.com/mcd_xhtml_ebooks/2005_world_history/images/mcd_mwh2005_0618377115_p450_f04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755" y="533400"/>
            <a:ext cx="2404859" cy="2885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8185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Communist Party in China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lang="en-US" sz="2400" dirty="0"/>
              <a:t>Nationalists and Communists Clash</a:t>
            </a:r>
            <a:endParaRPr lang="en-US" sz="3600" dirty="0"/>
          </a:p>
          <a:p>
            <a:pPr lvl="2"/>
            <a:r>
              <a:rPr lang="en-US" dirty="0"/>
              <a:t>Briefly </a:t>
            </a:r>
            <a:r>
              <a:rPr lang="en-US" dirty="0"/>
              <a:t>Kai-shek  </a:t>
            </a:r>
            <a:r>
              <a:rPr lang="en-US" dirty="0"/>
              <a:t>set aside </a:t>
            </a:r>
            <a:r>
              <a:rPr lang="en-US" u="sng" dirty="0"/>
              <a:t>differences and fought warlords alongside the Communists</a:t>
            </a:r>
            <a:r>
              <a:rPr lang="en-US" dirty="0"/>
              <a:t>, but later </a:t>
            </a:r>
            <a:r>
              <a:rPr lang="en-US" u="sng" dirty="0"/>
              <a:t>turned against the Communists</a:t>
            </a:r>
            <a:r>
              <a:rPr lang="en-US" dirty="0"/>
              <a:t>.</a:t>
            </a:r>
            <a:endParaRPr lang="en-US" sz="3200" dirty="0"/>
          </a:p>
          <a:p>
            <a:pPr lvl="2"/>
            <a:r>
              <a:rPr lang="en-US" dirty="0"/>
              <a:t>April 1927 Nationalists groups moved on Shanghai and killed many Communists</a:t>
            </a:r>
            <a:endParaRPr lang="en-US" sz="3200" dirty="0"/>
          </a:p>
          <a:p>
            <a:pPr lvl="2"/>
            <a:r>
              <a:rPr lang="en-US" dirty="0"/>
              <a:t>In 1928 </a:t>
            </a:r>
            <a:r>
              <a:rPr lang="en-US" dirty="0"/>
              <a:t>Kai-shek  </a:t>
            </a:r>
            <a:r>
              <a:rPr lang="en-US" dirty="0"/>
              <a:t>became president of the Nationalist Republic of China</a:t>
            </a:r>
            <a:endParaRPr lang="en-US" sz="3200" dirty="0"/>
          </a:p>
          <a:p>
            <a:pPr lvl="3"/>
            <a:r>
              <a:rPr lang="en-US" dirty="0"/>
              <a:t>Great Britain and the United States </a:t>
            </a:r>
            <a:r>
              <a:rPr lang="en-US" u="sng" dirty="0"/>
              <a:t>recognized his government</a:t>
            </a:r>
            <a:r>
              <a:rPr lang="en-US" dirty="0"/>
              <a:t>.</a:t>
            </a:r>
            <a:endParaRPr lang="en-US" sz="2800" dirty="0"/>
          </a:p>
          <a:p>
            <a:pPr lvl="3"/>
            <a:r>
              <a:rPr lang="en-US" dirty="0"/>
              <a:t>The Soviet Union </a:t>
            </a:r>
            <a:r>
              <a:rPr lang="en-US" u="sng" dirty="0"/>
              <a:t>did NOT recognize his government</a:t>
            </a:r>
            <a:endParaRPr lang="en-US" sz="2800" dirty="0"/>
          </a:p>
          <a:p>
            <a:pPr lvl="3"/>
            <a:r>
              <a:rPr lang="en-US" dirty="0"/>
              <a:t>Civil War breaks out which lasts until 1949</a:t>
            </a:r>
            <a:r>
              <a:rPr lang="en-US" dirty="0" smtClean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686418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Civil War Rages in China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685800"/>
            <a:ext cx="7543800" cy="4419600"/>
          </a:xfrm>
        </p:spPr>
        <p:txBody>
          <a:bodyPr>
            <a:noAutofit/>
          </a:bodyPr>
          <a:lstStyle/>
          <a:p>
            <a:pPr lvl="1"/>
            <a:r>
              <a:rPr lang="en-US" sz="3200" dirty="0"/>
              <a:t>In 1930 a bloody civil war was raging.</a:t>
            </a:r>
            <a:endParaRPr lang="en-US" sz="4400" dirty="0"/>
          </a:p>
          <a:p>
            <a:pPr lvl="2"/>
            <a:r>
              <a:rPr lang="en-US" sz="2800" dirty="0"/>
              <a:t>Mao and Communists established themselves in south-central China.</a:t>
            </a:r>
            <a:endParaRPr lang="en-US" sz="4000" dirty="0"/>
          </a:p>
          <a:p>
            <a:pPr lvl="3"/>
            <a:r>
              <a:rPr lang="en-US" sz="2400" dirty="0"/>
              <a:t>Taking his revolution to the countryside was called “swimming in the peasant sea.”</a:t>
            </a:r>
            <a:endParaRPr lang="en-US" sz="3600" dirty="0"/>
          </a:p>
          <a:p>
            <a:pPr lvl="3"/>
            <a:r>
              <a:rPr lang="en-US" sz="2400" dirty="0"/>
              <a:t>Mao recruited peasants into the Red </a:t>
            </a:r>
            <a:r>
              <a:rPr lang="en-US" sz="2400" dirty="0" smtClean="0"/>
              <a:t>Army (Soviet Union) </a:t>
            </a:r>
            <a:r>
              <a:rPr lang="en-US" sz="2400" dirty="0"/>
              <a:t>and trained them in guerilla </a:t>
            </a:r>
            <a:r>
              <a:rPr lang="en-US" sz="2400" dirty="0" smtClean="0"/>
              <a:t>warfare</a:t>
            </a:r>
            <a:endParaRPr lang="en-US" sz="3600" dirty="0"/>
          </a:p>
          <a:p>
            <a:pPr lvl="3"/>
            <a:r>
              <a:rPr lang="en-US" sz="2400" dirty="0"/>
              <a:t>Nationalists attacked </a:t>
            </a:r>
            <a:r>
              <a:rPr lang="en-US" sz="2400" dirty="0" smtClean="0"/>
              <a:t>Communists </a:t>
            </a:r>
            <a:r>
              <a:rPr lang="en-US" sz="2400" dirty="0"/>
              <a:t>but failed to drive them </a:t>
            </a:r>
            <a:r>
              <a:rPr lang="en-US" sz="2400" dirty="0" smtClean="0"/>
              <a:t>out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180057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770" y="5410200"/>
            <a:ext cx="7883768" cy="800100"/>
          </a:xfrm>
        </p:spPr>
        <p:txBody>
          <a:bodyPr>
            <a:normAutofit/>
          </a:bodyPr>
          <a:lstStyle/>
          <a:p>
            <a:pPr algn="r"/>
            <a:r>
              <a:rPr lang="en-US" sz="3400" dirty="0" smtClean="0"/>
              <a:t>The Long March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231" y="609600"/>
            <a:ext cx="4611078" cy="5203092"/>
          </a:xfrm>
        </p:spPr>
        <p:txBody>
          <a:bodyPr>
            <a:noAutofit/>
          </a:bodyPr>
          <a:lstStyle/>
          <a:p>
            <a:pPr lvl="2"/>
            <a:r>
              <a:rPr lang="en-US" sz="2400" dirty="0" smtClean="0"/>
              <a:t>1933 </a:t>
            </a:r>
            <a:r>
              <a:rPr lang="en-US" sz="2400" dirty="0"/>
              <a:t>Jiang gathered an army of 700,000 to surround the Communist </a:t>
            </a:r>
            <a:r>
              <a:rPr lang="en-US" sz="2400" dirty="0" smtClean="0"/>
              <a:t>stronghold</a:t>
            </a:r>
            <a:endParaRPr lang="en-US" sz="2400" dirty="0"/>
          </a:p>
          <a:p>
            <a:pPr lvl="2"/>
            <a:r>
              <a:rPr lang="en-US" sz="2400" dirty="0"/>
              <a:t>In a daring move, 100,000 Communist forces fled 6,000 miles on the </a:t>
            </a:r>
            <a:r>
              <a:rPr lang="en-US" sz="2400" b="1" dirty="0"/>
              <a:t>Long March</a:t>
            </a:r>
            <a:r>
              <a:rPr lang="en-US" sz="2400" dirty="0"/>
              <a:t> to northern China between 1934 and </a:t>
            </a:r>
            <a:r>
              <a:rPr lang="en-US" sz="2400" dirty="0" smtClean="0"/>
              <a:t>1935</a:t>
            </a:r>
            <a:endParaRPr lang="en-US" sz="2400" dirty="0"/>
          </a:p>
          <a:p>
            <a:pPr lvl="2"/>
            <a:r>
              <a:rPr lang="en-US" sz="2400" dirty="0"/>
              <a:t>Mao and survivors settle in caves in northern </a:t>
            </a:r>
            <a:r>
              <a:rPr lang="en-US" sz="2400" dirty="0" smtClean="0"/>
              <a:t>China</a:t>
            </a:r>
            <a:endParaRPr lang="en-US" sz="2400" dirty="0"/>
          </a:p>
          <a:p>
            <a:pPr lvl="2"/>
            <a:r>
              <a:rPr lang="en-US" sz="2400" dirty="0"/>
              <a:t>During this civil war, Japan invades </a:t>
            </a:r>
            <a:r>
              <a:rPr lang="en-US" sz="2400" dirty="0" smtClean="0"/>
              <a:t>China</a:t>
            </a:r>
            <a:endParaRPr lang="en-US" sz="2400" dirty="0"/>
          </a:p>
        </p:txBody>
      </p:sp>
      <p:pic>
        <p:nvPicPr>
          <p:cNvPr id="5122" name="Picture 2" descr="http://images.classwell.com/mcd_xhtml_ebooks/2005_world_history/images/mcd_mwh2005_0618377115_p451_f04.gif"/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60"/>
          <a:stretch/>
        </p:blipFill>
        <p:spPr bwMode="auto">
          <a:xfrm>
            <a:off x="4890967" y="609600"/>
            <a:ext cx="3835798" cy="4049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1811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://images.classwell.com/mcd_xhtml_ebooks/2005_world_history/images/mcd_mwh2005_0618377115_p451_f04.gif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585"/>
          <a:stretch/>
        </p:blipFill>
        <p:spPr bwMode="auto">
          <a:xfrm>
            <a:off x="1447800" y="416386"/>
            <a:ext cx="6096000" cy="6455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18457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158154"/>
            <a:ext cx="7543800" cy="1014046"/>
          </a:xfrm>
        </p:spPr>
        <p:txBody>
          <a:bodyPr>
            <a:normAutofit/>
          </a:bodyPr>
          <a:lstStyle/>
          <a:p>
            <a:r>
              <a:rPr lang="en-US" sz="3800" dirty="0" smtClean="0"/>
              <a:t>Civil War Suspended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692" y="685799"/>
            <a:ext cx="7700108" cy="4687277"/>
          </a:xfrm>
        </p:spPr>
        <p:txBody>
          <a:bodyPr/>
          <a:lstStyle/>
          <a:p>
            <a:pPr lvl="2"/>
            <a:r>
              <a:rPr lang="en-US" dirty="0" smtClean="0"/>
              <a:t>Japan </a:t>
            </a:r>
            <a:r>
              <a:rPr lang="en-US" dirty="0"/>
              <a:t>took advantage of China’s weakened situation during the civil war and invaded Manchuria, an industrial province in northeastern </a:t>
            </a:r>
            <a:r>
              <a:rPr lang="en-US" dirty="0" smtClean="0"/>
              <a:t>China</a:t>
            </a:r>
            <a:endParaRPr lang="en-US" sz="3200" dirty="0"/>
          </a:p>
          <a:p>
            <a:pPr lvl="2"/>
            <a:r>
              <a:rPr lang="en-US" dirty="0"/>
              <a:t>In 1937, Japan launched an all-out invasion of </a:t>
            </a:r>
            <a:r>
              <a:rPr lang="en-US" dirty="0" smtClean="0"/>
              <a:t>China-- </a:t>
            </a:r>
            <a:r>
              <a:rPr lang="en-US" dirty="0"/>
              <a:t>held large parts of China by </a:t>
            </a:r>
            <a:r>
              <a:rPr lang="en-US" dirty="0" smtClean="0"/>
              <a:t>1938</a:t>
            </a:r>
            <a:endParaRPr lang="en-US" sz="3200" dirty="0"/>
          </a:p>
          <a:p>
            <a:pPr lvl="2"/>
            <a:r>
              <a:rPr lang="en-US" dirty="0"/>
              <a:t>The Japanese threat forced an uneasy truce between the Jiang’s and Mao’s forces, and they united to fight the </a:t>
            </a:r>
            <a:r>
              <a:rPr lang="en-US" dirty="0" smtClean="0"/>
              <a:t>Japanese</a:t>
            </a:r>
            <a:endParaRPr lang="en-US" sz="3200" dirty="0"/>
          </a:p>
          <a:p>
            <a:pPr lvl="2"/>
            <a:r>
              <a:rPr lang="en-US" dirty="0"/>
              <a:t>The National Assembly further agreed to promote changes outlined in Sun </a:t>
            </a:r>
            <a:r>
              <a:rPr lang="en-US" dirty="0" smtClean="0"/>
              <a:t>Yet-</a:t>
            </a:r>
            <a:r>
              <a:rPr lang="en-US" dirty="0" err="1" smtClean="0"/>
              <a:t>sen’s</a:t>
            </a:r>
            <a:r>
              <a:rPr lang="en-US" dirty="0" smtClean="0"/>
              <a:t> </a:t>
            </a:r>
            <a:r>
              <a:rPr lang="en-US" dirty="0"/>
              <a:t>“Three Principles of the People</a:t>
            </a:r>
            <a:r>
              <a:rPr lang="en-US" dirty="0" smtClean="0"/>
              <a:t>”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303876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Newsprint.thmx</Template>
  <TotalTime>263</TotalTime>
  <Words>697</Words>
  <Application>Microsoft Macintosh PowerPoint</Application>
  <PresentationFormat>On-screen Show (4:3)</PresentationFormat>
  <Paragraphs>69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Newsprint</vt:lpstr>
      <vt:lpstr>Chinese Revolution</vt:lpstr>
      <vt:lpstr>Nationalists Overthrow Qing Dynasty</vt:lpstr>
      <vt:lpstr>Shaky Start for the New Republic</vt:lpstr>
      <vt:lpstr>PowerPoint Presentation</vt:lpstr>
      <vt:lpstr>World War I Spells More Problems</vt:lpstr>
      <vt:lpstr>PowerPoint Presentation</vt:lpstr>
      <vt:lpstr>PowerPoint Presentation</vt:lpstr>
      <vt:lpstr>PowerPoint Presentation</vt:lpstr>
      <vt:lpstr>The Communist Party in China</vt:lpstr>
      <vt:lpstr>Lenin Befriends China</vt:lpstr>
      <vt:lpstr>Peasants Align Themselves With The Communists</vt:lpstr>
      <vt:lpstr>The Communist Party in China</vt:lpstr>
      <vt:lpstr>Civil War Rages in China</vt:lpstr>
      <vt:lpstr>The Long March</vt:lpstr>
      <vt:lpstr>PowerPoint Presentation</vt:lpstr>
      <vt:lpstr>Civil War Suspended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Chinese Revolution</dc:title>
  <dc:creator>Jeff Loggins</dc:creator>
  <cp:lastModifiedBy>Loggins, Jeff</cp:lastModifiedBy>
  <cp:revision>10</cp:revision>
  <dcterms:created xsi:type="dcterms:W3CDTF">2013-03-21T14:11:40Z</dcterms:created>
  <dcterms:modified xsi:type="dcterms:W3CDTF">2016-04-26T17:20:56Z</dcterms:modified>
</cp:coreProperties>
</file>